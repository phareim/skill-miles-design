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0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502920"/>
            <a:ext cx="274320" cy="27940"/>
          </a:xfrm>
          <a:prstGeom prst="roundRect">
            <a:avLst/>
          </a:prstGeom>
          <a:solidFill>
            <a:srgbClr val="450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57784"/>
            <a:ext cx="274320" cy="27940"/>
          </a:xfrm>
          <a:prstGeom prst="roundRect">
            <a:avLst/>
          </a:prstGeom>
          <a:solidFill>
            <a:srgbClr val="450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612648"/>
            <a:ext cx="274320" cy="27940"/>
          </a:xfrm>
          <a:prstGeom prst="roundRect">
            <a:avLst/>
          </a:prstGeom>
          <a:solidFill>
            <a:srgbClr val="450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iles-logo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475488"/>
            <a:ext cx="1051560" cy="3559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4297680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F303B"/>
                </a:solidFill>
                <a:latin typeface="DM Sans"/>
              </a:rPr>
              <a:t>Oslo · 2026</a:t>
            </a:r>
          </a:p>
        </p:txBody>
      </p:sp>
      <p:pic>
        <p:nvPicPr>
          <p:cNvPr id="7" name="Picture 6" descr="miles-logo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617720"/>
            <a:ext cx="4572000" cy="15474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89320"/>
            <a:ext cx="54864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450D21"/>
                </a:solidFill>
                <a:latin typeface="Manrope"/>
              </a:rPr>
              <a:t>Slide-maler i Miles' designsystem.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30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502920"/>
            <a:ext cx="274320" cy="27940"/>
          </a:xfrm>
          <a:prstGeom prst="roundRect">
            <a:avLst/>
          </a:prstGeom>
          <a:solidFill>
            <a:srgbClr val="FB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57784"/>
            <a:ext cx="274320" cy="27940"/>
          </a:xfrm>
          <a:prstGeom prst="roundRect">
            <a:avLst/>
          </a:prstGeom>
          <a:solidFill>
            <a:srgbClr val="FB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612648"/>
            <a:ext cx="274320" cy="27940"/>
          </a:xfrm>
          <a:prstGeom prst="roundRect">
            <a:avLst/>
          </a:prstGeom>
          <a:solidFill>
            <a:srgbClr val="FB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iles-logo-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475488"/>
            <a:ext cx="1051560" cy="3301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4297680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BF0E5"/>
                </a:solidFill>
                <a:latin typeface="DM Sans"/>
              </a:rPr>
              <a:t>Bergen · 2026</a:t>
            </a:r>
          </a:p>
        </p:txBody>
      </p:sp>
      <p:pic>
        <p:nvPicPr>
          <p:cNvPr id="7" name="Picture 6" descr="miles-logo-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617720"/>
            <a:ext cx="4572000" cy="1435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50D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502920"/>
            <a:ext cx="274320" cy="27940"/>
          </a:xfrm>
          <a:prstGeom prst="roundRect">
            <a:avLst/>
          </a:prstGeom>
          <a:solidFill>
            <a:srgbClr val="FB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57784"/>
            <a:ext cx="274320" cy="27940"/>
          </a:xfrm>
          <a:prstGeom prst="roundRect">
            <a:avLst/>
          </a:prstGeom>
          <a:solidFill>
            <a:srgbClr val="FB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612648"/>
            <a:ext cx="274320" cy="27940"/>
          </a:xfrm>
          <a:prstGeom prst="roundRect">
            <a:avLst/>
          </a:prstGeom>
          <a:solidFill>
            <a:srgbClr val="FB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iles-logo-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475488"/>
            <a:ext cx="1051560" cy="3301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4297680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BF0E5"/>
                </a:solidFill>
                <a:latin typeface="DM Sans"/>
              </a:rPr>
              <a:t>Trondheim · 2026</a:t>
            </a:r>
          </a:p>
        </p:txBody>
      </p:sp>
      <p:pic>
        <p:nvPicPr>
          <p:cNvPr id="7" name="Picture 6" descr="miles-logo-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617720"/>
            <a:ext cx="4572000" cy="1435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0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502920"/>
            <a:ext cx="274320" cy="27940"/>
          </a:xfrm>
          <a:prstGeom prst="roundRect">
            <a:avLst/>
          </a:prstGeom>
          <a:solidFill>
            <a:srgbClr val="450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57784"/>
            <a:ext cx="274320" cy="27940"/>
          </a:xfrm>
          <a:prstGeom prst="roundRect">
            <a:avLst/>
          </a:prstGeom>
          <a:solidFill>
            <a:srgbClr val="450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612648"/>
            <a:ext cx="274320" cy="27940"/>
          </a:xfrm>
          <a:prstGeom prst="roundRect">
            <a:avLst/>
          </a:prstGeom>
          <a:solidFill>
            <a:srgbClr val="450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iles-logo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475488"/>
            <a:ext cx="1051560" cy="3559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286000"/>
            <a:ext cx="5760720" cy="1828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450D21"/>
                </a:solidFill>
                <a:latin typeface="Manrope"/>
              </a:rPr>
              <a:t>Vi elsker å løse
</a:t>
            </a:r>
            <a:r>
              <a:rPr sz="4400" b="0" i="0">
                <a:solidFill>
                  <a:srgbClr val="FF303B"/>
                </a:solidFill>
                <a:latin typeface="Manrope"/>
              </a:rPr>
              <a:t>utfordringer</a:t>
            </a:r>
            <a:r>
              <a:rPr sz="4400" b="0" i="0">
                <a:solidFill>
                  <a:srgbClr val="450D21"/>
                </a:solidFill>
                <a:latin typeface="Manrope"/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457200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450D21"/>
                </a:solidFill>
                <a:latin typeface="Manrope"/>
              </a:rPr>
              <a:t>Et verdidrevet konsulentselskap med varme for hverandre.</a:t>
            </a:r>
          </a:p>
        </p:txBody>
      </p:sp>
      <p:pic>
        <p:nvPicPr>
          <p:cNvPr id="8" name="Picture 7" descr="catching-ideas-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554480"/>
            <a:ext cx="4058044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0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502920"/>
            <a:ext cx="274320" cy="27940"/>
          </a:xfrm>
          <a:prstGeom prst="roundRect">
            <a:avLst/>
          </a:prstGeom>
          <a:solidFill>
            <a:srgbClr val="450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57784"/>
            <a:ext cx="274320" cy="27940"/>
          </a:xfrm>
          <a:prstGeom prst="roundRect">
            <a:avLst/>
          </a:prstGeom>
          <a:solidFill>
            <a:srgbClr val="450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612648"/>
            <a:ext cx="274320" cy="27940"/>
          </a:xfrm>
          <a:prstGeom prst="roundRect">
            <a:avLst/>
          </a:prstGeom>
          <a:solidFill>
            <a:srgbClr val="450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iles-logo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475488"/>
            <a:ext cx="1051560" cy="3559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143000"/>
            <a:ext cx="54864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FF303B"/>
                </a:solidFill>
                <a:latin typeface="Manrope"/>
              </a:rPr>
              <a:t>Innholdsoversikt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822960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450D21"/>
                </a:solidFill>
                <a:latin typeface="Manrope"/>
              </a:rPr>
              <a:t>Hva vi skal innom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43200"/>
            <a:ext cx="3291840" cy="301752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450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3017520"/>
            <a:ext cx="1792224" cy="384048"/>
          </a:xfrm>
          <a:prstGeom prst="roundRect">
            <a:avLst>
              <a:gd name="adj" fmla="val 50000"/>
            </a:avLst>
          </a:prstGeom>
          <a:solidFill>
            <a:srgbClr val="450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BF0E5"/>
                </a:solidFill>
                <a:latin typeface="DM Sans"/>
              </a:rPr>
              <a:t>Del 1: Bli kjent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3703320"/>
            <a:ext cx="1243584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450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450D21"/>
                </a:solidFill>
                <a:latin typeface="DM Sans"/>
              </a:rPr>
              <a:t>Hvem vi 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251960"/>
            <a:ext cx="1426464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450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450D21"/>
                </a:solidFill>
                <a:latin typeface="DM Sans"/>
              </a:rPr>
              <a:t>Våre verdier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743200"/>
            <a:ext cx="3291840" cy="301752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450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3017520"/>
            <a:ext cx="1792224" cy="384048"/>
          </a:xfrm>
          <a:prstGeom prst="roundRect">
            <a:avLst>
              <a:gd name="adj" fmla="val 50000"/>
            </a:avLst>
          </a:prstGeom>
          <a:solidFill>
            <a:srgbClr val="450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BF0E5"/>
                </a:solidFill>
                <a:latin typeface="DM Sans"/>
              </a:rPr>
              <a:t>Del 2: Tjenester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703320"/>
            <a:ext cx="1243584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450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450D21"/>
                </a:solidFill>
                <a:latin typeface="DM Sans"/>
              </a:rPr>
              <a:t>Data og 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4251960"/>
            <a:ext cx="1792224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450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450D21"/>
                </a:solidFill>
                <a:latin typeface="DM Sans"/>
              </a:rPr>
              <a:t>Sky og plattform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743200"/>
            <a:ext cx="3291840" cy="301752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450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75320" y="3017520"/>
            <a:ext cx="1792224" cy="384048"/>
          </a:xfrm>
          <a:prstGeom prst="roundRect">
            <a:avLst>
              <a:gd name="adj" fmla="val 50000"/>
            </a:avLst>
          </a:prstGeom>
          <a:solidFill>
            <a:srgbClr val="450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BF0E5"/>
                </a:solidFill>
                <a:latin typeface="DM Sans"/>
              </a:rPr>
              <a:t>Del 3: Samarbeid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3703320"/>
            <a:ext cx="877824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450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450D21"/>
                </a:solidFill>
                <a:latin typeface="DM Sans"/>
              </a:rPr>
              <a:t>Teamet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4251960"/>
            <a:ext cx="1426464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450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450D21"/>
                </a:solidFill>
                <a:latin typeface="DM Sans"/>
              </a:rPr>
              <a:t>Veien videre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30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502920"/>
            <a:ext cx="274320" cy="27940"/>
          </a:xfrm>
          <a:prstGeom prst="roundRect">
            <a:avLst/>
          </a:prstGeom>
          <a:solidFill>
            <a:srgbClr val="FB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57784"/>
            <a:ext cx="274320" cy="27940"/>
          </a:xfrm>
          <a:prstGeom prst="roundRect">
            <a:avLst/>
          </a:prstGeom>
          <a:solidFill>
            <a:srgbClr val="FB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612648"/>
            <a:ext cx="274320" cy="27940"/>
          </a:xfrm>
          <a:prstGeom prst="roundRect">
            <a:avLst/>
          </a:prstGeom>
          <a:solidFill>
            <a:srgbClr val="FB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iles-logo-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475488"/>
            <a:ext cx="1051560" cy="3301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77440" y="2286000"/>
            <a:ext cx="7406640" cy="228600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FBF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2606040"/>
            <a:ext cx="66751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BF0E5"/>
                </a:solidFill>
                <a:latin typeface="DM Sans"/>
              </a:rPr>
              <a:t>Kapittel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063240"/>
            <a:ext cx="667512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4000" b="0" i="0">
                <a:solidFill>
                  <a:srgbClr val="FBF0E5"/>
                </a:solidFill>
                <a:latin typeface="Manrope"/>
              </a:rPr>
              <a:t>Tjenesteområdene våre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0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502920"/>
            <a:ext cx="274320" cy="27940"/>
          </a:xfrm>
          <a:prstGeom prst="roundRect">
            <a:avLst/>
          </a:prstGeom>
          <a:solidFill>
            <a:srgbClr val="450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57784"/>
            <a:ext cx="274320" cy="27940"/>
          </a:xfrm>
          <a:prstGeom prst="roundRect">
            <a:avLst/>
          </a:prstGeom>
          <a:solidFill>
            <a:srgbClr val="450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612648"/>
            <a:ext cx="274320" cy="27940"/>
          </a:xfrm>
          <a:prstGeom prst="roundRect">
            <a:avLst/>
          </a:prstGeom>
          <a:solidFill>
            <a:srgbClr val="450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iles-logo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475488"/>
            <a:ext cx="1051560" cy="3559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011680"/>
            <a:ext cx="54864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FF303B"/>
                </a:solidFill>
                <a:latin typeface="Manrope"/>
              </a:rPr>
              <a:t>Slik jobber 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548640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450D21"/>
                </a:solidFill>
                <a:latin typeface="Manrope"/>
              </a:rPr>
              <a:t>Smarte løsninger i </a:t>
            </a:r>
            <a:r>
              <a:rPr sz="3400" b="0" i="0">
                <a:solidFill>
                  <a:srgbClr val="FF303B"/>
                </a:solidFill>
                <a:latin typeface="Manrope"/>
              </a:rPr>
              <a:t>samarbeid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57600"/>
            <a:ext cx="5120640" cy="1828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450D21"/>
                </a:solidFill>
                <a:latin typeface="DM Sans"/>
              </a:rPr>
              <a:t>Vi møter mennesker med faglig autoritet og varme. Vi lytter, forstår problemet, og bygger noe robust og varig sammen med dere.</a:t>
            </a:r>
          </a:p>
        </p:txBody>
      </p:sp>
      <p:pic>
        <p:nvPicPr>
          <p:cNvPr id="9" name="Picture 8" descr="person-laptop-or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737360"/>
            <a:ext cx="3051853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0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502920"/>
            <a:ext cx="274320" cy="27940"/>
          </a:xfrm>
          <a:prstGeom prst="roundRect">
            <a:avLst/>
          </a:prstGeom>
          <a:solidFill>
            <a:srgbClr val="450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57784"/>
            <a:ext cx="274320" cy="27940"/>
          </a:xfrm>
          <a:prstGeom prst="roundRect">
            <a:avLst/>
          </a:prstGeom>
          <a:solidFill>
            <a:srgbClr val="450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612648"/>
            <a:ext cx="274320" cy="27940"/>
          </a:xfrm>
          <a:prstGeom prst="roundRect">
            <a:avLst/>
          </a:prstGeom>
          <a:solidFill>
            <a:srgbClr val="450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iles-logo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475488"/>
            <a:ext cx="1051560" cy="3559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011680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 spc="150">
                <a:solidFill>
                  <a:srgbClr val="FF303B"/>
                </a:solidFill>
                <a:latin typeface="DM Sans"/>
              </a:rPr>
              <a:t>TJENESTEOMRÅDE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5486400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800" b="1" i="0">
                <a:solidFill>
                  <a:srgbClr val="450D21"/>
                </a:solidFill>
                <a:latin typeface="Manrope"/>
              </a:rPr>
              <a:t>Data og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669280"/>
            <a:ext cx="594360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50D21"/>
                </a:solidFill>
                <a:latin typeface="DM Sans"/>
              </a:rPr>
              <a:t>Maskinlæring · dataplattformer · MLOps · generativ AI · beslutningsstøtte · datakvalitet</a:t>
            </a:r>
          </a:p>
        </p:txBody>
      </p:sp>
      <p:pic>
        <p:nvPicPr>
          <p:cNvPr id="9" name="Picture 8" descr="data-and-ai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828800"/>
            <a:ext cx="310896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0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502920"/>
            <a:ext cx="274320" cy="27940"/>
          </a:xfrm>
          <a:prstGeom prst="roundRect">
            <a:avLst/>
          </a:prstGeom>
          <a:solidFill>
            <a:srgbClr val="450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57784"/>
            <a:ext cx="274320" cy="27940"/>
          </a:xfrm>
          <a:prstGeom prst="roundRect">
            <a:avLst/>
          </a:prstGeom>
          <a:solidFill>
            <a:srgbClr val="450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612648"/>
            <a:ext cx="274320" cy="27940"/>
          </a:xfrm>
          <a:prstGeom prst="roundRect">
            <a:avLst/>
          </a:prstGeom>
          <a:solidFill>
            <a:srgbClr val="450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iles-logo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475488"/>
            <a:ext cx="1051560" cy="3559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2194560"/>
            <a:ext cx="54864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FF303B"/>
                </a:solidFill>
                <a:latin typeface="Manrope"/>
              </a:rPr>
              <a:t>Våre tjenesteområder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194560"/>
            <a:ext cx="12191695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0" i="1">
                <a:solidFill>
                  <a:srgbClr val="FF303B"/>
                </a:solidFill>
                <a:latin typeface="Manrope"/>
              </a:rPr>
              <a:t>Våre tjenesteområder</a:t>
            </a:r>
          </a:p>
        </p:txBody>
      </p:sp>
      <p:pic>
        <p:nvPicPr>
          <p:cNvPr id="8" name="Picture 7" descr="strategic-it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926080"/>
            <a:ext cx="1371600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434840"/>
            <a:ext cx="182880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450D21"/>
                </a:solidFill>
                <a:latin typeface="DM Sans"/>
              </a:rPr>
              <a:t>Strategisk IT</a:t>
            </a:r>
          </a:p>
        </p:txBody>
      </p:sp>
      <p:pic>
        <p:nvPicPr>
          <p:cNvPr id="10" name="Picture 9" descr="cloud-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3643" y="2926080"/>
            <a:ext cx="1371600" cy="1371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65043" y="4434840"/>
            <a:ext cx="182880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450D21"/>
                </a:solidFill>
                <a:latin typeface="DM Sans"/>
              </a:rPr>
              <a:t>Teknologi, sky og plattform</a:t>
            </a:r>
          </a:p>
        </p:txBody>
      </p:sp>
      <p:pic>
        <p:nvPicPr>
          <p:cNvPr id="12" name="Picture 11" descr="data-and-ai-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0047" y="2926080"/>
            <a:ext cx="1371600" cy="137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81447" y="4434840"/>
            <a:ext cx="182880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450D21"/>
                </a:solidFill>
                <a:latin typeface="DM Sans"/>
              </a:rPr>
              <a:t>Data og AI</a:t>
            </a:r>
          </a:p>
        </p:txBody>
      </p:sp>
      <p:pic>
        <p:nvPicPr>
          <p:cNvPr id="14" name="Picture 13" descr="ux-and-innovation-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451" y="2926080"/>
            <a:ext cx="1371600" cy="1371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7851" y="4434840"/>
            <a:ext cx="182880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450D21"/>
                </a:solidFill>
                <a:latin typeface="DM Sans"/>
              </a:rPr>
              <a:t>Brukeropplevelse og innovasjon</a:t>
            </a:r>
          </a:p>
        </p:txBody>
      </p:sp>
      <p:pic>
        <p:nvPicPr>
          <p:cNvPr id="16" name="Picture 15" descr="transformation-and-people-circ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2855" y="2926080"/>
            <a:ext cx="1371600" cy="1371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814255" y="4434840"/>
            <a:ext cx="182880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450D21"/>
                </a:solidFill>
                <a:latin typeface="DM Sans"/>
              </a:rPr>
              <a:t>Transformasjon og mennesker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0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6858000"/>
          </a:xfrm>
          <a:prstGeom prst="rect">
            <a:avLst/>
          </a:prstGeom>
          <a:solidFill>
            <a:srgbClr val="FF3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6858000"/>
          </a:xfrm>
          <a:prstGeom prst="rect">
            <a:avLst/>
          </a:prstGeom>
          <a:solidFill>
            <a:srgbClr val="FB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4952847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FBF0E5"/>
                </a:solidFill>
                <a:latin typeface="Manrope"/>
              </a:rPr>
              <a:t>Mye er nytt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4952847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FBF0E5"/>
                </a:solidFill>
                <a:latin typeface="Manrope"/>
              </a:rPr>
              <a:t>En ny verktøykasse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49039"/>
            <a:ext cx="4952847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FBF0E5"/>
                </a:solidFill>
                <a:latin typeface="DM Sans"/>
              </a:rPr>
              <a:t>Nye plattformer, ny AI, nye muligheter.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1607" y="2377440"/>
            <a:ext cx="4952847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FF303B"/>
                </a:solidFill>
                <a:latin typeface="Manrope"/>
              </a:rPr>
              <a:t>Mye består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61607" y="2788920"/>
            <a:ext cx="4952847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450D21"/>
                </a:solidFill>
                <a:latin typeface="Manrope"/>
              </a:rPr>
              <a:t>Faglig autoritet og varme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1607" y="3749039"/>
            <a:ext cx="4952847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450D21"/>
                </a:solidFill>
                <a:latin typeface="DM Sans"/>
              </a:rPr>
              <a:t>Verdiene og menneskene er de samme.</a:t>
            </a:r>
          </a:p>
        </p:txBody>
      </p:sp>
      <p:pic>
        <p:nvPicPr>
          <p:cNvPr id="10" name="Picture 9" descr="miles-logo-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914400" cy="2871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0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502920"/>
            <a:ext cx="274320" cy="27940"/>
          </a:xfrm>
          <a:prstGeom prst="roundRect">
            <a:avLst/>
          </a:prstGeom>
          <a:solidFill>
            <a:srgbClr val="450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57784"/>
            <a:ext cx="274320" cy="27940"/>
          </a:xfrm>
          <a:prstGeom prst="roundRect">
            <a:avLst/>
          </a:prstGeom>
          <a:solidFill>
            <a:srgbClr val="450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612648"/>
            <a:ext cx="274320" cy="27940"/>
          </a:xfrm>
          <a:prstGeom prst="roundRect">
            <a:avLst/>
          </a:prstGeom>
          <a:solidFill>
            <a:srgbClr val="450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iles-logo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475488"/>
            <a:ext cx="1051560" cy="3559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1371600"/>
            <a:ext cx="12191695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0" i="1">
                <a:solidFill>
                  <a:srgbClr val="FF303B"/>
                </a:solidFill>
                <a:latin typeface="Manrope"/>
              </a:rPr>
              <a:t>Teamet ditt</a:t>
            </a:r>
          </a:p>
        </p:txBody>
      </p:sp>
      <p:sp>
        <p:nvSpPr>
          <p:cNvPr id="7" name="Oval 6"/>
          <p:cNvSpPr/>
          <p:nvPr/>
        </p:nvSpPr>
        <p:spPr>
          <a:xfrm>
            <a:off x="2758287" y="2194560"/>
            <a:ext cx="1554480" cy="1554480"/>
          </a:xfrm>
          <a:prstGeom prst="ellipse">
            <a:avLst/>
          </a:prstGeom>
          <a:solidFill>
            <a:srgbClr val="F3E3D0"/>
          </a:solidFill>
          <a:ln w="19050">
            <a:solidFill>
              <a:srgbClr val="450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12567" y="388620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FF3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BF0E5"/>
                </a:solidFill>
                <a:latin typeface="DM Sans"/>
              </a:rPr>
              <a:t>Senior konsulent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2527" y="4389120"/>
            <a:ext cx="22860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450D21"/>
                </a:solidFill>
                <a:latin typeface="DM Sans"/>
              </a:rPr>
              <a:t>Navn Navnesen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2527" y="4754880"/>
            <a:ext cx="22860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6A2F44"/>
                </a:solidFill>
                <a:latin typeface="DM Sans"/>
              </a:rPr>
              <a:t>Løsningsarkitekt</a:t>
            </a:r>
          </a:p>
        </p:txBody>
      </p:sp>
      <p:sp>
        <p:nvSpPr>
          <p:cNvPr id="11" name="Oval 10"/>
          <p:cNvSpPr/>
          <p:nvPr/>
        </p:nvSpPr>
        <p:spPr>
          <a:xfrm>
            <a:off x="5318607" y="2194560"/>
            <a:ext cx="1554480" cy="1554480"/>
          </a:xfrm>
          <a:prstGeom prst="ellipse">
            <a:avLst/>
          </a:prstGeom>
          <a:solidFill>
            <a:srgbClr val="F3E3D0"/>
          </a:solidFill>
          <a:ln w="19050">
            <a:solidFill>
              <a:srgbClr val="450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72887" y="388620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FF3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BF0E5"/>
                </a:solidFill>
                <a:latin typeface="DM Sans"/>
              </a:rPr>
              <a:t>Konsulent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2847" y="4389120"/>
            <a:ext cx="22860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450D21"/>
                </a:solidFill>
                <a:latin typeface="DM Sans"/>
              </a:rPr>
              <a:t>Navn Navnesen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2847" y="4754880"/>
            <a:ext cx="22860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6A2F44"/>
                </a:solidFill>
                <a:latin typeface="DM Sans"/>
              </a:rPr>
              <a:t>Data scientist</a:t>
            </a:r>
          </a:p>
        </p:txBody>
      </p:sp>
      <p:sp>
        <p:nvSpPr>
          <p:cNvPr id="15" name="Oval 14"/>
          <p:cNvSpPr/>
          <p:nvPr/>
        </p:nvSpPr>
        <p:spPr>
          <a:xfrm>
            <a:off x="7878927" y="2194560"/>
            <a:ext cx="1554480" cy="1554480"/>
          </a:xfrm>
          <a:prstGeom prst="ellipse">
            <a:avLst/>
          </a:prstGeom>
          <a:solidFill>
            <a:srgbClr val="F3E3D0"/>
          </a:solidFill>
          <a:ln w="19050">
            <a:solidFill>
              <a:srgbClr val="450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33207" y="388620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FF3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BF0E5"/>
                </a:solidFill>
                <a:latin typeface="DM Sans"/>
              </a:rPr>
              <a:t>Senior konsulent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3167" y="4389120"/>
            <a:ext cx="22860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450D21"/>
                </a:solidFill>
                <a:latin typeface="DM Sans"/>
              </a:rPr>
              <a:t>Navn Navnesen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3167" y="4754880"/>
            <a:ext cx="22860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6A2F44"/>
                </a:solidFill>
                <a:latin typeface="DM Sans"/>
              </a:rPr>
              <a:t>UX-designer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5760720"/>
            <a:ext cx="12191695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i="1">
                <a:solidFill>
                  <a:srgbClr val="6A2F44"/>
                </a:solidFill>
                <a:latin typeface="DM Sans"/>
              </a:rPr>
              <a:t>Bytt de runde brønnene mot svart-hvitt-portretter.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30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les-logo-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1463040" cy="4593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3566160"/>
            <a:ext cx="9144000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800" b="0" i="0">
                <a:solidFill>
                  <a:srgbClr val="FBF0E5"/>
                </a:solidFill>
                <a:latin typeface="Manrope"/>
              </a:rPr>
              <a:t>Takk for tiden din! :)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493776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B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450D21"/>
                </a:solidFill>
                <a:latin typeface="DM Sans"/>
              </a:rPr>
              <a:t>←  Forside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4937760"/>
            <a:ext cx="2569464" cy="384048"/>
          </a:xfrm>
          <a:prstGeom prst="roundRect">
            <a:avLst>
              <a:gd name="adj" fmla="val 50000"/>
            </a:avLst>
          </a:prstGeom>
          <a:solidFill>
            <a:srgbClr val="FB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450D21"/>
                </a:solidFill>
                <a:latin typeface="DM Sans"/>
              </a:rPr>
              <a:t>←  Innholdsoversikten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66944" y="4937760"/>
            <a:ext cx="2971800" cy="384048"/>
          </a:xfrm>
          <a:prstGeom prst="roundRect">
            <a:avLst>
              <a:gd name="adj" fmla="val 50000"/>
            </a:avLst>
          </a:prstGeom>
          <a:solidFill>
            <a:srgbClr val="FB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450D21"/>
                </a:solidFill>
                <a:latin typeface="DM Sans"/>
              </a:rPr>
              <a:t>←  Har du noe på hjertet?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