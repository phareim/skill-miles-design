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 w="22225">
              <a:solidFill>
                <a:srgbClr val="450D21"/>
              </a:solidFill>
            </a:ln>
          </c:spPr>
          <c:marker>
            <c:symbol val="none"/>
          </c:marker>
          <c:dPt>
            <c:idx val="7"/>
            <c:marker>
              <c:symbol val="circle"/>
              <c:size val="6"/>
              <c:spPr>
                <a:solidFill>
                  <a:srgbClr val="FF303B"/>
                </a:solidFill>
              </c:spPr>
            </c:marker>
          </c:dPt>
          <c:cat>
            <c:strRef>
              <c:f>Sheet1!$A$2:$A$9</c:f>
              <c:strCache>
                <c:ptCount val="8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</c:strCache>
            </c:strRef>
          </c:cat>
          <c:val>
            <c:numRef>
              <c:f>Sheet1!$B$2:$B$9</c:f>
              <c:numCache>
                <c:formatCode>0</c:formatCode>
                <c:ptCount val="8"/>
                <c:pt idx="0">
                  <c:v>4.2</c:v>
                </c:pt>
                <c:pt idx="1">
                  <c:v>4.3</c:v>
                </c:pt>
                <c:pt idx="2">
                  <c:v>4.4</c:v>
                </c:pt>
                <c:pt idx="3">
                  <c:v>4.4</c:v>
                </c:pt>
                <c:pt idx="4">
                  <c:v>4.5</c:v>
                </c:pt>
                <c:pt idx="5">
                  <c:v>4.6</c:v>
                </c:pt>
                <c:pt idx="6">
                  <c:v>4.6</c:v>
                </c:pt>
                <c:pt idx="7">
                  <c:v>4.7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18791784"/>
        <c:crosses val="autoZero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solidFill>
            <a:srgbClr val="450D21"/>
          </a:solidFill>
          <a:latin typeface="DM San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 w="22225">
              <a:solidFill>
                <a:srgbClr val="450D21"/>
              </a:solidFill>
            </a:ln>
          </c:spPr>
          <c:marker>
            <c:symbol val="none"/>
          </c:marker>
          <c:dPt>
            <c:idx val="7"/>
            <c:marker>
              <c:symbol val="circle"/>
              <c:size val="6"/>
              <c:spPr>
                <a:solidFill>
                  <a:srgbClr val="FF303B"/>
                </a:solidFill>
              </c:spPr>
            </c:marker>
          </c:dPt>
          <c:cat>
            <c:strRef>
              <c:f>Sheet1!$A$2:$A$9</c:f>
              <c:strCache>
                <c:ptCount val="8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</c:strCache>
            </c:strRef>
          </c:cat>
          <c:val>
            <c:numRef>
              <c:f>Sheet1!$B$2:$B$9</c:f>
              <c:numCache>
                <c:formatCode>0</c:formatCode>
                <c:ptCount val="8"/>
                <c:pt idx="0">
                  <c:v>210</c:v>
                </c:pt>
                <c:pt idx="1">
                  <c:v>228</c:v>
                </c:pt>
                <c:pt idx="2">
                  <c:v>241</c:v>
                </c:pt>
                <c:pt idx="3">
                  <c:v>255</c:v>
                </c:pt>
                <c:pt idx="4">
                  <c:v>268</c:v>
                </c:pt>
                <c:pt idx="5">
                  <c:v>279</c:v>
                </c:pt>
                <c:pt idx="6">
                  <c:v>288</c:v>
                </c:pt>
                <c:pt idx="7">
                  <c:v>297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18791784"/>
        <c:crosses val="autoZero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solidFill>
            <a:srgbClr val="450D21"/>
          </a:solidFill>
          <a:latin typeface="DM Sans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 w="22225">
              <a:solidFill>
                <a:srgbClr val="450D21"/>
              </a:solidFill>
            </a:ln>
          </c:spPr>
          <c:marker>
            <c:symbol val="none"/>
          </c:marker>
          <c:dPt>
            <c:idx val="7"/>
            <c:marker>
              <c:symbol val="circle"/>
              <c:size val="6"/>
              <c:spPr>
                <a:solidFill>
                  <a:srgbClr val="FF303B"/>
                </a:solidFill>
              </c:spPr>
            </c:marker>
          </c:dPt>
          <c:cat>
            <c:strRef>
              <c:f>Sheet1!$A$2:$A$9</c:f>
              <c:strCache>
                <c:ptCount val="8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</c:strCache>
            </c:strRef>
          </c:cat>
          <c:val>
            <c:numRef>
              <c:f>Sheet1!$B$2:$B$9</c:f>
              <c:numCache>
                <c:formatCode>0</c:formatCode>
                <c:ptCount val="8"/>
                <c:pt idx="0">
                  <c:v>88</c:v>
                </c:pt>
                <c:pt idx="1">
                  <c:v>90</c:v>
                </c:pt>
                <c:pt idx="2">
                  <c:v>86</c:v>
                </c:pt>
                <c:pt idx="3">
                  <c:v>91</c:v>
                </c:pt>
                <c:pt idx="4">
                  <c:v>93</c:v>
                </c:pt>
                <c:pt idx="5">
                  <c:v>89</c:v>
                </c:pt>
                <c:pt idx="6">
                  <c:v>92</c:v>
                </c:pt>
                <c:pt idx="7">
                  <c:v>94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18791784"/>
        <c:crosses val="autoZero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solidFill>
            <a:srgbClr val="450D21"/>
          </a:solidFill>
          <a:latin typeface="DM Sans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 w="22225">
              <a:solidFill>
                <a:srgbClr val="450D21"/>
              </a:solidFill>
            </a:ln>
          </c:spPr>
          <c:marker>
            <c:symbol val="none"/>
          </c:marker>
          <c:dPt>
            <c:idx val="7"/>
            <c:marker>
              <c:symbol val="circle"/>
              <c:size val="6"/>
              <c:spPr>
                <a:solidFill>
                  <a:srgbClr val="FF303B"/>
                </a:solidFill>
              </c:spPr>
            </c:marker>
          </c:dPt>
          <c:cat>
            <c:strRef>
              <c:f>Sheet1!$A$2:$A$9</c:f>
              <c:strCache>
                <c:ptCount val="8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</c:strCache>
            </c:strRef>
          </c:cat>
          <c:val>
            <c:numRef>
              <c:f>Sheet1!$B$2:$B$9</c:f>
              <c:numCache>
                <c:formatCode>0</c:formatCode>
                <c:ptCount val="8"/>
                <c:pt idx="0">
                  <c:v>31</c:v>
                </c:pt>
                <c:pt idx="1">
                  <c:v>35</c:v>
                </c:pt>
                <c:pt idx="2">
                  <c:v>40</c:v>
                </c:pt>
                <c:pt idx="3">
                  <c:v>42</c:v>
                </c:pt>
                <c:pt idx="4">
                  <c:v>46</c:v>
                </c:pt>
                <c:pt idx="5">
                  <c:v>49</c:v>
                </c:pt>
                <c:pt idx="6">
                  <c:v>52</c:v>
                </c:pt>
                <c:pt idx="7">
                  <c:v>54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18791784"/>
        <c:crosses val="autoZero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solidFill>
            <a:srgbClr val="450D21"/>
          </a:solidFill>
          <a:latin typeface="DM Sans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verdi</c:v>
                </c:pt>
              </c:strCache>
            </c:strRef>
          </c:tx>
          <c:spPr>
            <a:solidFill>
              <a:srgbClr val="450D21"/>
            </a:solidFill>
            <a:ln>
              <a:noFill/>
            </a:ln>
          </c:spPr>
          <c:dPt>
            <c:idx val="3"/>
            <c:spPr>
              <a:solidFill>
                <a:srgbClr val="FF303B"/>
              </a:solidFill>
            </c:spPr>
          </c:dPt>
          <c:cat>
            <c:strRef>
              <c:f>Sheet1!$A$2:$A$6</c:f>
              <c:strCache>
                <c:ptCount val="5"/>
                <c:pt idx="0">
                  <c:v>Transformasjon</c:v>
                </c:pt>
                <c:pt idx="1">
                  <c:v>Brukeropplevelse</c:v>
                </c:pt>
                <c:pt idx="2">
                  <c:v>Strategisk IT</c:v>
                </c:pt>
                <c:pt idx="3">
                  <c:v>Data og AI</c:v>
                </c:pt>
                <c:pt idx="4">
                  <c:v>Sky og plattform</c:v>
                </c:pt>
              </c:strCache>
            </c:strRef>
          </c:cat>
          <c:val>
            <c:numRef>
              <c:f>Sheet1!$B$2:$B$6</c:f>
              <c:numCache>
                <c:formatCode>0" MNOK"</c:formatCode>
                <c:ptCount val="5"/>
                <c:pt idx="0">
                  <c:v>88</c:v>
                </c:pt>
                <c:pt idx="1">
                  <c:v>97</c:v>
                </c:pt>
                <c:pt idx="2">
                  <c:v>142</c:v>
                </c:pt>
                <c:pt idx="3">
                  <c:v>188</c:v>
                </c:pt>
                <c:pt idx="4">
                  <c:v>206</c:v>
                </c:pt>
              </c:numCache>
            </c:numRef>
          </c:val>
        </c:ser>
        <c:dLbls>
          <c:numFmt formatCode="0&quot; MNOK&quot;" sourceLinked="0"/>
          <c:txPr>
            <a:bodyPr/>
            <a:lstStyle/>
            <a:p>
              <a:pPr>
                <a:defRPr sz="1100">
                  <a:solidFill>
                    <a:srgbClr val="450D21"/>
                  </a:solidFill>
                  <a:latin typeface="DM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solidFill>
            <a:srgbClr val="450D21"/>
          </a:solidFill>
          <a:latin typeface="DM Sans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 og AI</c:v>
                </c:pt>
              </c:strCache>
            </c:strRef>
          </c:tx>
          <c:spPr>
            <a:ln w="31750">
              <a:solidFill>
                <a:srgbClr val="FF303B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  <c:pt idx="7">
                  <c:v>2026</c:v>
                </c:pt>
              </c:strCache>
            </c:strRef>
          </c:cat>
          <c:val>
            <c:numRef>
              <c:f>Sheet1!$B$2:$B$9</c:f>
              <c:numCache>
                <c:formatCode>0</c:formatCode>
                <c:ptCount val="8"/>
                <c:pt idx="0">
                  <c:v>18</c:v>
                </c:pt>
                <c:pt idx="1">
                  <c:v>26</c:v>
                </c:pt>
                <c:pt idx="2">
                  <c:v>38</c:v>
                </c:pt>
                <c:pt idx="3">
                  <c:v>55</c:v>
                </c:pt>
                <c:pt idx="4">
                  <c:v>74</c:v>
                </c:pt>
                <c:pt idx="5">
                  <c:v>96</c:v>
                </c:pt>
                <c:pt idx="6">
                  <c:v>121</c:v>
                </c:pt>
                <c:pt idx="7">
                  <c:v>148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Sky og plattform</c:v>
                </c:pt>
              </c:strCache>
            </c:strRef>
          </c:tx>
          <c:spPr>
            <a:ln w="19050">
              <a:solidFill>
                <a:srgbClr val="450D21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  <c:pt idx="7">
                  <c:v>2026</c:v>
                </c:pt>
              </c:strCache>
            </c:strRef>
          </c:cat>
          <c:val>
            <c:numRef>
              <c:f>Sheet1!$C$2:$C$9</c:f>
              <c:numCache>
                <c:formatCode>0</c:formatCode>
                <c:ptCount val="8"/>
                <c:pt idx="0">
                  <c:v>64</c:v>
                </c:pt>
                <c:pt idx="1">
                  <c:v>71</c:v>
                </c:pt>
                <c:pt idx="2">
                  <c:v>78</c:v>
                </c:pt>
                <c:pt idx="3">
                  <c:v>84</c:v>
                </c:pt>
                <c:pt idx="4">
                  <c:v>90</c:v>
                </c:pt>
                <c:pt idx="5">
                  <c:v>97</c:v>
                </c:pt>
                <c:pt idx="6">
                  <c:v>104</c:v>
                </c:pt>
                <c:pt idx="7">
                  <c:v>110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Strategisk IT</c:v>
                </c:pt>
              </c:strCache>
            </c:strRef>
          </c:tx>
          <c:spPr>
            <a:ln w="19050">
              <a:solidFill>
                <a:srgbClr val="8F5265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  <c:pt idx="7">
                  <c:v>2026</c:v>
                </c:pt>
              </c:strCache>
            </c:strRef>
          </c:cat>
          <c:val>
            <c:numRef>
              <c:f>Sheet1!$D$2:$D$9</c:f>
              <c:numCache>
                <c:formatCode>0</c:formatCode>
                <c:ptCount val="8"/>
                <c:pt idx="0">
                  <c:v>41</c:v>
                </c:pt>
                <c:pt idx="1">
                  <c:v>44</c:v>
                </c:pt>
                <c:pt idx="2">
                  <c:v>46</c:v>
                </c:pt>
                <c:pt idx="3">
                  <c:v>48</c:v>
                </c:pt>
                <c:pt idx="4">
                  <c:v>49</c:v>
                </c:pt>
                <c:pt idx="5">
                  <c:v>51</c:v>
                </c:pt>
                <c:pt idx="6">
                  <c:v>52</c:v>
                </c:pt>
                <c:pt idx="7">
                  <c:v>54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18791784"/>
        <c:crosses val="autoZero"/>
        <c:majorUnit val="50.0"/>
      </c:valAx>
      <c:spPr>
        <a:noFill/>
        <a:ln>
          <a:noFill/>
        </a:ln>
      </c:spPr>
    </c:plotArea>
    <c:legend>
      <c:legendPos val="b"/>
      <c:layout/>
      <c:overlay val="0"/>
      <c:txPr>
        <a:bodyPr/>
        <a:lstStyle/>
        <a:p>
          <a:pPr>
            <a:defRPr sz="1100">
              <a:solidFill>
                <a:srgbClr val="450D21"/>
              </a:solidFill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solidFill>
            <a:srgbClr val="450D21"/>
          </a:solidFill>
          <a:latin typeface="DM Sans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B58594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Innlandet</c:v>
                </c:pt>
                <c:pt idx="1">
                  <c:v>Haugesund</c:v>
                </c:pt>
                <c:pt idx="2">
                  <c:v>Ålesund</c:v>
                </c:pt>
                <c:pt idx="3">
                  <c:v>Litauen</c:v>
                </c:pt>
                <c:pt idx="4">
                  <c:v>Stavanger</c:v>
                </c:pt>
                <c:pt idx="5">
                  <c:v>Trondheim</c:v>
                </c:pt>
                <c:pt idx="6">
                  <c:v>Bergen</c:v>
                </c:pt>
                <c:pt idx="7">
                  <c:v>Oslo</c:v>
                </c:pt>
              </c:strCache>
            </c:strRef>
          </c:cat>
          <c:val>
            <c:numRef>
              <c:f>Sheet1!$B$2:$B$9</c:f>
              <c:numCache>
                <c:formatCode>0</c:formatCode>
                <c:ptCount val="8"/>
                <c:pt idx="0">
                  <c:v>6</c:v>
                </c:pt>
                <c:pt idx="1">
                  <c:v>9</c:v>
                </c:pt>
                <c:pt idx="2">
                  <c:v>11</c:v>
                </c:pt>
                <c:pt idx="3">
                  <c:v>14</c:v>
                </c:pt>
                <c:pt idx="4">
                  <c:v>31</c:v>
                </c:pt>
                <c:pt idx="5">
                  <c:v>30</c:v>
                </c:pt>
                <c:pt idx="6">
                  <c:v>54</c:v>
                </c:pt>
                <c:pt idx="7">
                  <c:v>112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450D21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Innlandet</c:v>
                </c:pt>
                <c:pt idx="1">
                  <c:v>Haugesund</c:v>
                </c:pt>
                <c:pt idx="2">
                  <c:v>Ålesund</c:v>
                </c:pt>
                <c:pt idx="3">
                  <c:v>Litauen</c:v>
                </c:pt>
                <c:pt idx="4">
                  <c:v>Stavanger</c:v>
                </c:pt>
                <c:pt idx="5">
                  <c:v>Trondheim</c:v>
                </c:pt>
                <c:pt idx="6">
                  <c:v>Bergen</c:v>
                </c:pt>
                <c:pt idx="7">
                  <c:v>Oslo</c:v>
                </c:pt>
              </c:strCache>
            </c:strRef>
          </c:cat>
          <c:val>
            <c:numRef>
              <c:f>Sheet1!$C$2:$C$9</c:f>
              <c:numCache>
                <c:formatCode>0</c:formatCode>
                <c:ptCount val="8"/>
                <c:pt idx="0">
                  <c:v>8</c:v>
                </c:pt>
                <c:pt idx="1">
                  <c:v>9</c:v>
                </c:pt>
                <c:pt idx="2">
                  <c:v>12</c:v>
                </c:pt>
                <c:pt idx="3">
                  <c:v>26</c:v>
                </c:pt>
                <c:pt idx="4">
                  <c:v>29</c:v>
                </c:pt>
                <c:pt idx="5">
                  <c:v>34</c:v>
                </c:pt>
                <c:pt idx="6">
                  <c:v>58</c:v>
                </c:pt>
                <c:pt idx="7">
                  <c:v>121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-2068027336"/>
        <c:crosses val="autoZero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50D21"/>
              </a:solidFill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1100">
          <a:solidFill>
            <a:srgbClr val="450D21"/>
          </a:solidFill>
          <a:latin typeface="DM Sans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 og AI</c:v>
                </c:pt>
              </c:strCache>
            </c:strRef>
          </c:tx>
          <c:spPr>
            <a:ln w="25400">
              <a:solidFill>
                <a:srgbClr val="FF303B"/>
              </a:solidFill>
            </a:ln>
          </c:spPr>
          <c:marker>
            <c:symbol val="circle"/>
            <c:size val="5"/>
            <c:spPr>
              <a:solidFill>
                <a:srgbClr val="FF303B"/>
              </a:solidFill>
              <a:ln>
                <a:noFill/>
              </a:ln>
            </c:spPr>
          </c:marker>
          <c:cat>
            <c:strRef>
              <c:f>Sheet1!$A$2:$A$3</c:f>
              <c:strCache>
                <c:ptCount val="2"/>
                <c:pt idx="0">
                  <c:v>2023</c:v>
                </c:pt>
                <c:pt idx="1">
                  <c:v>2025</c:v>
                </c:pt>
              </c:strCache>
            </c:strRef>
          </c:cat>
          <c:val>
            <c:numRef>
              <c:f>Sheet1!$B$2:$B$3</c:f>
              <c:numCache>
                <c:formatCode>0</c:formatCode>
                <c:ptCount val="2"/>
                <c:pt idx="0">
                  <c:v>62</c:v>
                </c:pt>
                <c:pt idx="1">
                  <c:v>91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Sky og plattform</c:v>
                </c:pt>
              </c:strCache>
            </c:strRef>
          </c:tx>
          <c:spPr>
            <a:ln w="25400">
              <a:solidFill>
                <a:srgbClr val="8F5265"/>
              </a:solidFill>
            </a:ln>
          </c:spPr>
          <c:marker>
            <c:symbol val="circle"/>
            <c:size val="5"/>
            <c:spPr>
              <a:solidFill>
                <a:srgbClr val="8F5265"/>
              </a:solidFill>
              <a:ln>
                <a:noFill/>
              </a:ln>
            </c:spPr>
          </c:marker>
          <c:cat>
            <c:strRef>
              <c:f>Sheet1!$A$2:$A$3</c:f>
              <c:strCache>
                <c:ptCount val="2"/>
                <c:pt idx="0">
                  <c:v>2023</c:v>
                </c:pt>
                <c:pt idx="1">
                  <c:v>2025</c:v>
                </c:pt>
              </c:strCache>
            </c:strRef>
          </c:cat>
          <c:val>
            <c:numRef>
              <c:f>Sheet1!$C$2:$C$3</c:f>
              <c:numCache>
                <c:formatCode>0</c:formatCode>
                <c:ptCount val="2"/>
                <c:pt idx="0">
                  <c:v>28</c:v>
                </c:pt>
                <c:pt idx="1">
                  <c:v>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Strategisk IT</c:v>
                </c:pt>
              </c:strCache>
            </c:strRef>
          </c:tx>
          <c:spPr>
            <a:ln w="25400">
              <a:solidFill>
                <a:srgbClr val="8F5265"/>
              </a:solidFill>
            </a:ln>
          </c:spPr>
          <c:marker>
            <c:symbol val="circle"/>
            <c:size val="5"/>
            <c:spPr>
              <a:solidFill>
                <a:srgbClr val="8F5265"/>
              </a:solidFill>
              <a:ln>
                <a:noFill/>
              </a:ln>
            </c:spPr>
          </c:marker>
          <c:cat>
            <c:strRef>
              <c:f>Sheet1!$A$2:$A$3</c:f>
              <c:strCache>
                <c:ptCount val="2"/>
                <c:pt idx="0">
                  <c:v>2023</c:v>
                </c:pt>
                <c:pt idx="1">
                  <c:v>2025</c:v>
                </c:pt>
              </c:strCache>
            </c:strRef>
          </c:cat>
          <c:val>
            <c:numRef>
              <c:f>Sheet1!$D$2:$D$3</c:f>
              <c:numCache>
                <c:formatCode>0</c:formatCode>
                <c:ptCount val="2"/>
                <c:pt idx="0">
                  <c:v>12</c:v>
                </c:pt>
                <c:pt idx="1">
                  <c:v>38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Brukeropplevelse</c:v>
                </c:pt>
              </c:strCache>
            </c:strRef>
          </c:tx>
          <c:spPr>
            <a:ln w="25400">
              <a:solidFill>
                <a:srgbClr val="8F5265"/>
              </a:solidFill>
            </a:ln>
          </c:spPr>
          <c:marker>
            <c:symbol val="circle"/>
            <c:size val="5"/>
            <c:spPr>
              <a:solidFill>
                <a:srgbClr val="8F5265"/>
              </a:solidFill>
              <a:ln>
                <a:noFill/>
              </a:ln>
            </c:spPr>
          </c:marker>
          <c:cat>
            <c:strRef>
              <c:f>Sheet1!$A$2:$A$3</c:f>
              <c:strCache>
                <c:ptCount val="2"/>
                <c:pt idx="0">
                  <c:v>2023</c:v>
                </c:pt>
                <c:pt idx="1">
                  <c:v>2025</c:v>
                </c:pt>
              </c:strCache>
            </c:strRef>
          </c:cat>
          <c:val>
            <c:numRef>
              <c:f>Sheet1!$E$2:$E$3</c:f>
              <c:numCache>
                <c:formatCode>0</c:formatCode>
                <c:ptCount val="2"/>
                <c:pt idx="0">
                  <c:v>9</c:v>
                </c:pt>
                <c:pt idx="1">
                  <c:v>31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Transformasjon</c:v>
                </c:pt>
              </c:strCache>
            </c:strRef>
          </c:tx>
          <c:spPr>
            <a:ln w="25400">
              <a:solidFill>
                <a:srgbClr val="8F5265"/>
              </a:solidFill>
            </a:ln>
          </c:spPr>
          <c:marker>
            <c:symbol val="circle"/>
            <c:size val="5"/>
            <c:spPr>
              <a:solidFill>
                <a:srgbClr val="8F5265"/>
              </a:solidFill>
              <a:ln>
                <a:noFill/>
              </a:ln>
            </c:spPr>
          </c:marker>
          <c:cat>
            <c:strRef>
              <c:f>Sheet1!$A$2:$A$3</c:f>
              <c:strCache>
                <c:ptCount val="2"/>
                <c:pt idx="0">
                  <c:v>2023</c:v>
                </c:pt>
                <c:pt idx="1">
                  <c:v>2025</c:v>
                </c:pt>
              </c:strCache>
            </c:strRef>
          </c:cat>
          <c:val>
            <c:numRef>
              <c:f>Sheet1!$F$2:$F$3</c:f>
              <c:numCache>
                <c:formatCode>0</c:formatCode>
                <c:ptCount val="2"/>
                <c:pt idx="0">
                  <c:v>5</c:v>
                </c:pt>
                <c:pt idx="1">
                  <c:v>22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sz="1100">
                  <a:solidFill>
                    <a:srgbClr val="450D21"/>
                  </a:solidFill>
                  <a:latin typeface="DM Sa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18791784"/>
        <c:crosses val="autoZero"/>
      </c:valAx>
      <c:spPr>
        <a:noFill/>
        <a:ln>
          <a:noFill/>
        </a:ln>
      </c:spPr>
    </c:plotArea>
    <c:legend>
      <c:legendPos val="b"/>
      <c:layout/>
      <c:overlay val="0"/>
      <c:txPr>
        <a:bodyPr/>
        <a:lstStyle/>
        <a:p>
          <a:pPr>
            <a:defRPr sz="1100">
              <a:solidFill>
                <a:srgbClr val="450D21"/>
              </a:solidFill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solidFill>
            <a:srgbClr val="450D21"/>
          </a:solidFill>
          <a:latin typeface="DM Sans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punkter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6"/>
            <c:spPr>
              <a:solidFill>
                <a:srgbClr val="450D21"/>
              </a:solidFill>
              <a:ln>
                <a:noFill/>
              </a:ln>
            </c:spPr>
          </c:marker>
          <c:xVal>
            <c:numRef>
              <c:f>Sheet1!$A$2:$A$20</c:f>
              <c:numCache>
                <c:formatCode>0</c:formatCode>
                <c:ptCount val="19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4</c:v>
                </c:pt>
                <c:pt idx="4">
                  <c:v>4</c:v>
                </c:pt>
                <c:pt idx="5">
                  <c:v>5</c:v>
                </c:pt>
                <c:pt idx="6">
                  <c:v>5</c:v>
                </c:pt>
                <c:pt idx="7">
                  <c:v>6</c:v>
                </c:pt>
                <c:pt idx="8">
                  <c:v>6</c:v>
                </c:pt>
                <c:pt idx="9">
                  <c:v>7</c:v>
                </c:pt>
                <c:pt idx="10">
                  <c:v>7</c:v>
                </c:pt>
                <c:pt idx="11">
                  <c:v>8</c:v>
                </c:pt>
                <c:pt idx="12">
                  <c:v>8</c:v>
                </c:pt>
                <c:pt idx="13">
                  <c:v>9</c:v>
                </c:pt>
                <c:pt idx="14">
                  <c:v>10</c:v>
                </c:pt>
                <c:pt idx="15">
                  <c:v>11</c:v>
                </c:pt>
                <c:pt idx="16">
                  <c:v>12</c:v>
                </c:pt>
                <c:pt idx="17">
                  <c:v>4</c:v>
                </c:pt>
                <c:pt idx="18">
                  <c:v>9</c:v>
                </c:pt>
              </c:numCache>
            </c:numRef>
          </c:xVal>
          <c:yVal>
            <c:numRef>
              <c:f>Sheet1!$B$2:$B$20</c:f>
              <c:numCache>
                <c:formatCode>0</c:formatCode>
                <c:ptCount val="19"/>
                <c:pt idx="0">
                  <c:v>6</c:v>
                </c:pt>
                <c:pt idx="1">
                  <c:v>7</c:v>
                </c:pt>
                <c:pt idx="2">
                  <c:v>10</c:v>
                </c:pt>
                <c:pt idx="3">
                  <c:v>9</c:v>
                </c:pt>
                <c:pt idx="4">
                  <c:v>14</c:v>
                </c:pt>
                <c:pt idx="5">
                  <c:v>12</c:v>
                </c:pt>
                <c:pt idx="6">
                  <c:v>16</c:v>
                </c:pt>
                <c:pt idx="7">
                  <c:v>13</c:v>
                </c:pt>
                <c:pt idx="8">
                  <c:v>20</c:v>
                </c:pt>
                <c:pt idx="9">
                  <c:v>18</c:v>
                </c:pt>
                <c:pt idx="10">
                  <c:v>24</c:v>
                </c:pt>
                <c:pt idx="11">
                  <c:v>19</c:v>
                </c:pt>
                <c:pt idx="12">
                  <c:v>28</c:v>
                </c:pt>
                <c:pt idx="13">
                  <c:v>26</c:v>
                </c:pt>
                <c:pt idx="14">
                  <c:v>31</c:v>
                </c:pt>
                <c:pt idx="15">
                  <c:v>38</c:v>
                </c:pt>
                <c:pt idx="16">
                  <c:v>34</c:v>
                </c:pt>
                <c:pt idx="17">
                  <c:v>8</c:v>
                </c:pt>
                <c:pt idx="18">
                  <c:v>22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Sheet1!$B$22</c:f>
              <c:strCache>
                <c:ptCount val="1"/>
                <c:pt idx="0">
                  <c:v>uthevet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1"/>
            <c:spPr>
              <a:solidFill>
                <a:srgbClr val="FF303B"/>
              </a:solidFill>
              <a:ln>
                <a:solidFill>
                  <a:srgbClr val="FF303B"/>
                </a:solidFill>
              </a:ln>
            </c:spPr>
          </c:marker>
          <c:xVal>
            <c:numRef>
              <c:f>Sheet1!$A$23:$A$23</c:f>
              <c:numCache>
                <c:formatCode>0</c:formatCode>
                <c:ptCount val="1"/>
                <c:pt idx="0">
                  <c:v>5</c:v>
                </c:pt>
              </c:numCache>
            </c:numRef>
          </c:xVal>
          <c:yVal>
            <c:numRef>
              <c:f>Sheet1!$B$23:$B$23</c:f>
              <c:numCache>
                <c:formatCode>0</c:formatCode>
                <c:ptCount val="1"/>
                <c:pt idx="0">
                  <c:v>11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100" b="0">
                    <a:solidFill>
                      <a:srgbClr val="8F5265"/>
                    </a:solidFill>
                    <a:latin typeface="DM Sans"/>
                  </a:rPr>
                  <a:t>Teamstørrelse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rPr sz="1100" b="0">
                    <a:solidFill>
                      <a:srgbClr val="8F5265"/>
                    </a:solidFill>
                    <a:latin typeface="DM Sans"/>
                  </a:rPr>
                  <a:t>Varighet (uker)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-2128940872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solidFill>
            <a:srgbClr val="450D21"/>
          </a:solidFill>
          <a:latin typeface="DM Sans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 w="22225">
              <a:solidFill>
                <a:srgbClr val="450D21"/>
              </a:solidFill>
            </a:ln>
          </c:spPr>
          <c:marker>
            <c:symbol val="none"/>
          </c:marker>
          <c:dPt>
            <c:idx val="5"/>
            <c:marker>
              <c:symbol val="circle"/>
              <c:size val="6"/>
              <c:spPr>
                <a:solidFill>
                  <a:srgbClr val="FF303B"/>
                </a:solidFill>
              </c:spPr>
            </c:marker>
          </c:dPt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98</c:v>
                </c:pt>
                <c:pt idx="1">
                  <c:v>104</c:v>
                </c:pt>
                <c:pt idx="2">
                  <c:v>109</c:v>
                </c:pt>
                <c:pt idx="3">
                  <c:v>112</c:v>
                </c:pt>
                <c:pt idx="4">
                  <c:v>117</c:v>
                </c:pt>
                <c:pt idx="5">
                  <c:v>121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5.0"/>
          <c:min val="0.0"/>
        </c:scaling>
        <c:delete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18791784"/>
        <c:crosses val="autoZero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solidFill>
            <a:srgbClr val="450D21"/>
          </a:solidFill>
          <a:latin typeface="DM Sans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 w="22225">
              <a:solidFill>
                <a:srgbClr val="450D21"/>
              </a:solidFill>
            </a:ln>
          </c:spPr>
          <c:marker>
            <c:symbol val="none"/>
          </c:marker>
          <c:dPt>
            <c:idx val="5"/>
            <c:marker>
              <c:symbol val="circle"/>
              <c:size val="6"/>
              <c:spPr>
                <a:solidFill>
                  <a:srgbClr val="FF303B"/>
                </a:solidFill>
              </c:spPr>
            </c:marker>
          </c:dPt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44</c:v>
                </c:pt>
                <c:pt idx="1">
                  <c:v>47</c:v>
                </c:pt>
                <c:pt idx="2">
                  <c:v>50</c:v>
                </c:pt>
                <c:pt idx="3">
                  <c:v>54</c:v>
                </c:pt>
                <c:pt idx="4">
                  <c:v>56</c:v>
                </c:pt>
                <c:pt idx="5">
                  <c:v>58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5.0"/>
          <c:min val="0.0"/>
        </c:scaling>
        <c:delete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18791784"/>
        <c:crosses val="autoZero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solidFill>
            <a:srgbClr val="450D21"/>
          </a:solidFill>
          <a:latin typeface="DM Sans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 w="22225">
              <a:solidFill>
                <a:srgbClr val="450D21"/>
              </a:solidFill>
            </a:ln>
          </c:spPr>
          <c:marker>
            <c:symbol val="none"/>
          </c:marker>
          <c:dPt>
            <c:idx val="5"/>
            <c:marker>
              <c:symbol val="circle"/>
              <c:size val="6"/>
              <c:spPr>
                <a:solidFill>
                  <a:srgbClr val="FF303B"/>
                </a:solidFill>
              </c:spPr>
            </c:marker>
          </c:dPt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22</c:v>
                </c:pt>
                <c:pt idx="1">
                  <c:v>25</c:v>
                </c:pt>
                <c:pt idx="2">
                  <c:v>27</c:v>
                </c:pt>
                <c:pt idx="3">
                  <c:v>30</c:v>
                </c:pt>
                <c:pt idx="4">
                  <c:v>32</c:v>
                </c:pt>
                <c:pt idx="5">
                  <c:v>34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5.0"/>
          <c:min val="0.0"/>
        </c:scaling>
        <c:delete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18791784"/>
        <c:crosses val="autoZero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solidFill>
            <a:srgbClr val="450D21"/>
          </a:solidFill>
          <a:latin typeface="DM Sans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 w="22225">
              <a:solidFill>
                <a:srgbClr val="450D21"/>
              </a:solidFill>
            </a:ln>
          </c:spPr>
          <c:marker>
            <c:symbol val="none"/>
          </c:marker>
          <c:dPt>
            <c:idx val="5"/>
            <c:marker>
              <c:symbol val="circle"/>
              <c:size val="6"/>
              <c:spPr>
                <a:solidFill>
                  <a:srgbClr val="FF303B"/>
                </a:solidFill>
              </c:spPr>
            </c:marker>
          </c:dPt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27</c:v>
                </c:pt>
                <c:pt idx="1">
                  <c:v>28</c:v>
                </c:pt>
                <c:pt idx="2">
                  <c:v>30</c:v>
                </c:pt>
                <c:pt idx="3">
                  <c:v>31</c:v>
                </c:pt>
                <c:pt idx="4">
                  <c:v>30</c:v>
                </c:pt>
                <c:pt idx="5">
                  <c:v>29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5.0"/>
          <c:min val="0.0"/>
        </c:scaling>
        <c:delete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18791784"/>
        <c:crosses val="autoZero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solidFill>
            <a:srgbClr val="450D21"/>
          </a:solidFill>
          <a:latin typeface="DM Sans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 w="22225">
              <a:solidFill>
                <a:srgbClr val="450D21"/>
              </a:solidFill>
            </a:ln>
          </c:spPr>
          <c:marker>
            <c:symbol val="none"/>
          </c:marker>
          <c:dPt>
            <c:idx val="5"/>
            <c:marker>
              <c:symbol val="circle"/>
              <c:size val="6"/>
              <c:spPr>
                <a:solidFill>
                  <a:srgbClr val="FF303B"/>
                </a:solidFill>
              </c:spPr>
            </c:marker>
          </c:dPt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4</c:v>
                </c:pt>
                <c:pt idx="1">
                  <c:v>7</c:v>
                </c:pt>
                <c:pt idx="2">
                  <c:v>10</c:v>
                </c:pt>
                <c:pt idx="3">
                  <c:v>14</c:v>
                </c:pt>
                <c:pt idx="4">
                  <c:v>20</c:v>
                </c:pt>
                <c:pt idx="5">
                  <c:v>26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5.0"/>
          <c:min val="0.0"/>
        </c:scaling>
        <c:delete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18791784"/>
        <c:crosses val="autoZero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solidFill>
            <a:srgbClr val="450D21"/>
          </a:solidFill>
          <a:latin typeface="DM Sans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 w="22225">
              <a:solidFill>
                <a:srgbClr val="450D21"/>
              </a:solidFill>
            </a:ln>
          </c:spPr>
          <c:marker>
            <c:symbol val="none"/>
          </c:marker>
          <c:dPt>
            <c:idx val="5"/>
            <c:marker>
              <c:symbol val="circle"/>
              <c:size val="6"/>
              <c:spPr>
                <a:solidFill>
                  <a:srgbClr val="FF303B"/>
                </a:solidFill>
              </c:spPr>
            </c:marker>
          </c:dPt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8</c:v>
                </c:pt>
                <c:pt idx="1">
                  <c:v>9</c:v>
                </c:pt>
                <c:pt idx="2">
                  <c:v>10</c:v>
                </c:pt>
                <c:pt idx="3">
                  <c:v>11</c:v>
                </c:pt>
                <c:pt idx="4">
                  <c:v>12</c:v>
                </c:pt>
                <c:pt idx="5">
                  <c:v>12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5.0"/>
          <c:min val="0.0"/>
        </c:scaling>
        <c:delete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18791784"/>
        <c:crosses val="autoZero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solidFill>
            <a:srgbClr val="450D21"/>
          </a:solidFill>
          <a:latin typeface="DM Sans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 w="22225">
              <a:solidFill>
                <a:srgbClr val="450D21"/>
              </a:solidFill>
            </a:ln>
          </c:spPr>
          <c:marker>
            <c:symbol val="none"/>
          </c:marker>
          <c:dPt>
            <c:idx val="5"/>
            <c:marker>
              <c:symbol val="circle"/>
              <c:size val="6"/>
              <c:spPr>
                <a:solidFill>
                  <a:srgbClr val="FF303B"/>
                </a:solidFill>
              </c:spPr>
            </c:marker>
          </c:dPt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9</c:v>
                </c:pt>
                <c:pt idx="5">
                  <c:v>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5.0"/>
          <c:min val="0.0"/>
        </c:scaling>
        <c:delete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18791784"/>
        <c:crosses val="autoZero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solidFill>
            <a:srgbClr val="450D21"/>
          </a:solidFill>
          <a:latin typeface="DM Sans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 w="22225">
              <a:solidFill>
                <a:srgbClr val="450D21"/>
              </a:solidFill>
            </a:ln>
          </c:spPr>
          <c:marker>
            <c:symbol val="none"/>
          </c:marker>
          <c:dPt>
            <c:idx val="5"/>
            <c:marker>
              <c:symbol val="circle"/>
              <c:size val="6"/>
              <c:spPr>
                <a:solidFill>
                  <a:srgbClr val="FF303B"/>
                </a:solidFill>
              </c:spPr>
            </c:marker>
          </c:dPt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3</c:v>
                </c:pt>
                <c:pt idx="1">
                  <c:v>4</c:v>
                </c:pt>
                <c:pt idx="2">
                  <c:v>5</c:v>
                </c:pt>
                <c:pt idx="3">
                  <c:v>6</c:v>
                </c:pt>
                <c:pt idx="4">
                  <c:v>7</c:v>
                </c:pt>
                <c:pt idx="5">
                  <c:v>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5.0"/>
          <c:min val="0.0"/>
        </c:scaling>
        <c:delete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F5265"/>
                </a:solidFill>
                <a:latin typeface="DM Sans"/>
              </a:defRPr>
            </a:pPr>
          </a:p>
        </c:txPr>
        <c:crossAx val="2118791784"/>
        <c:crosses val="autoZero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solidFill>
            <a:srgbClr val="450D21"/>
          </a:solidFill>
          <a:latin typeface="DM San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chart" Target="../charts/chart3.xml"/><Relationship Id="rId6" Type="http://schemas.openxmlformats.org/officeDocument/2006/relationships/chart" Target="../charts/char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Relationship Id="rId6" Type="http://schemas.openxmlformats.org/officeDocument/2006/relationships/chart" Target="../charts/chart13.xml"/><Relationship Id="rId7" Type="http://schemas.openxmlformats.org/officeDocument/2006/relationships/chart" Target="../charts/chart14.xml"/><Relationship Id="rId8" Type="http://schemas.openxmlformats.org/officeDocument/2006/relationships/chart" Target="../charts/chart15.xml"/><Relationship Id="rId9" Type="http://schemas.openxmlformats.org/officeDocument/2006/relationships/chart" Target="../charts/chart16.xml"/><Relationship Id="rId10" Type="http://schemas.openxmlformats.org/officeDocument/2006/relationships/chart" Target="../charts/chart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502920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612648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iles-logo-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75488"/>
            <a:ext cx="1051560" cy="3559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4297680"/>
            <a:ext cx="5486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F303B"/>
                </a:solidFill>
                <a:latin typeface="DM Sans"/>
              </a:rPr>
              <a:t>Oslo · 2026</a:t>
            </a:r>
          </a:p>
        </p:txBody>
      </p:sp>
      <p:pic>
        <p:nvPicPr>
          <p:cNvPr id="7" name="Picture 6" descr="miles-logo-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617720"/>
            <a:ext cx="4572000" cy="154744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989320"/>
            <a:ext cx="54864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450D21"/>
                </a:solidFill>
                <a:latin typeface="Manrope"/>
              </a:rPr>
              <a:t>Slide-maler i Miles' designsystem.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30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502920"/>
            <a:ext cx="274320" cy="27940"/>
          </a:xfrm>
          <a:prstGeom prst="roundRect">
            <a:avLst/>
          </a:prstGeom>
          <a:solidFill>
            <a:srgbClr val="FB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74320" cy="27940"/>
          </a:xfrm>
          <a:prstGeom prst="roundRect">
            <a:avLst/>
          </a:prstGeom>
          <a:solidFill>
            <a:srgbClr val="FB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612648"/>
            <a:ext cx="274320" cy="27940"/>
          </a:xfrm>
          <a:prstGeom prst="roundRect">
            <a:avLst/>
          </a:prstGeom>
          <a:solidFill>
            <a:srgbClr val="FB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iles-logo-c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75488"/>
            <a:ext cx="1051560" cy="330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4297680"/>
            <a:ext cx="5486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BF0E5"/>
                </a:solidFill>
                <a:latin typeface="DM Sans"/>
              </a:rPr>
              <a:t>Bergen · 2026</a:t>
            </a:r>
          </a:p>
        </p:txBody>
      </p:sp>
      <p:pic>
        <p:nvPicPr>
          <p:cNvPr id="7" name="Picture 6" descr="miles-logo-c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617720"/>
            <a:ext cx="4572000" cy="1435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50D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502920"/>
            <a:ext cx="274320" cy="27940"/>
          </a:xfrm>
          <a:prstGeom prst="roundRect">
            <a:avLst/>
          </a:prstGeom>
          <a:solidFill>
            <a:srgbClr val="FB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74320" cy="27940"/>
          </a:xfrm>
          <a:prstGeom prst="roundRect">
            <a:avLst/>
          </a:prstGeom>
          <a:solidFill>
            <a:srgbClr val="FB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612648"/>
            <a:ext cx="274320" cy="27940"/>
          </a:xfrm>
          <a:prstGeom prst="roundRect">
            <a:avLst/>
          </a:prstGeom>
          <a:solidFill>
            <a:srgbClr val="FB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iles-logo-c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75488"/>
            <a:ext cx="1051560" cy="330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4297680"/>
            <a:ext cx="5486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BF0E5"/>
                </a:solidFill>
                <a:latin typeface="DM Sans"/>
              </a:rPr>
              <a:t>Trondheim · 2026</a:t>
            </a:r>
          </a:p>
        </p:txBody>
      </p:sp>
      <p:pic>
        <p:nvPicPr>
          <p:cNvPr id="7" name="Picture 6" descr="miles-logo-c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617720"/>
            <a:ext cx="4572000" cy="1435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502920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612648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iles-logo-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75488"/>
            <a:ext cx="1051560" cy="3559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286000"/>
            <a:ext cx="5760720" cy="1828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4400" b="0" i="0">
                <a:solidFill>
                  <a:srgbClr val="450D21"/>
                </a:solidFill>
                <a:latin typeface="Manrope"/>
              </a:rPr>
              <a:t>Vi elsker å løse
</a:t>
            </a:r>
            <a:r>
              <a:rPr sz="4400" b="0" i="0">
                <a:solidFill>
                  <a:srgbClr val="FF303B"/>
                </a:solidFill>
                <a:latin typeface="Manrope"/>
              </a:rPr>
              <a:t>utfordringer</a:t>
            </a:r>
            <a:r>
              <a:rPr sz="4400" b="0" i="0">
                <a:solidFill>
                  <a:srgbClr val="450D21"/>
                </a:solidFill>
                <a:latin typeface="Manrope"/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4572000" cy="914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450D21"/>
                </a:solidFill>
                <a:latin typeface="Manrope"/>
              </a:rPr>
              <a:t>Et verdidrevet konsulentselskap med varme for hverandre.</a:t>
            </a:r>
          </a:p>
        </p:txBody>
      </p:sp>
      <p:pic>
        <p:nvPicPr>
          <p:cNvPr id="8" name="Picture 7" descr="catching-ideas-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554480"/>
            <a:ext cx="4058044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502920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612648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iles-logo-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75488"/>
            <a:ext cx="1051560" cy="3559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1143000"/>
            <a:ext cx="54864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FF303B"/>
                </a:solidFill>
                <a:latin typeface="Manrope"/>
              </a:rPr>
              <a:t>Innholdsoversikt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8229600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450D21"/>
                </a:solidFill>
                <a:latin typeface="Manrope"/>
              </a:rPr>
              <a:t>Hva vi skal innom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43200"/>
            <a:ext cx="3291840" cy="301752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450D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3017520"/>
            <a:ext cx="1792224" cy="384048"/>
          </a:xfrm>
          <a:prstGeom prst="roundRect">
            <a:avLst>
              <a:gd name="adj" fmla="val 50000"/>
            </a:avLst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BF0E5"/>
                </a:solidFill>
                <a:latin typeface="DM Sans"/>
              </a:rPr>
              <a:t>Del 1: Bli kjent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3703320"/>
            <a:ext cx="1243584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450D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450D21"/>
                </a:solidFill>
                <a:latin typeface="DM Sans"/>
              </a:rPr>
              <a:t>Hvem vi 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251960"/>
            <a:ext cx="1426464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450D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450D21"/>
                </a:solidFill>
                <a:latin typeface="DM Sans"/>
              </a:rPr>
              <a:t>Våre verdier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743200"/>
            <a:ext cx="3291840" cy="301752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450D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3017520"/>
            <a:ext cx="1792224" cy="384048"/>
          </a:xfrm>
          <a:prstGeom prst="roundRect">
            <a:avLst>
              <a:gd name="adj" fmla="val 50000"/>
            </a:avLst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BF0E5"/>
                </a:solidFill>
                <a:latin typeface="DM Sans"/>
              </a:rPr>
              <a:t>Del 2: Tjenester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703320"/>
            <a:ext cx="1243584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450D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450D21"/>
                </a:solidFill>
                <a:latin typeface="DM Sans"/>
              </a:rPr>
              <a:t>Data og 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4251960"/>
            <a:ext cx="1792224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450D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450D21"/>
                </a:solidFill>
                <a:latin typeface="DM Sans"/>
              </a:rPr>
              <a:t>Sky og plattform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43200"/>
            <a:ext cx="3291840" cy="301752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450D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75320" y="3017520"/>
            <a:ext cx="1792224" cy="384048"/>
          </a:xfrm>
          <a:prstGeom prst="roundRect">
            <a:avLst>
              <a:gd name="adj" fmla="val 50000"/>
            </a:avLst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BF0E5"/>
                </a:solidFill>
                <a:latin typeface="DM Sans"/>
              </a:rPr>
              <a:t>Del 3: Samarbeid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3703320"/>
            <a:ext cx="877824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450D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450D21"/>
                </a:solidFill>
                <a:latin typeface="DM Sans"/>
              </a:rPr>
              <a:t>Teamet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75320" y="4251960"/>
            <a:ext cx="1426464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450D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450D21"/>
                </a:solidFill>
                <a:latin typeface="DM Sans"/>
              </a:rPr>
              <a:t>Veien videre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30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502920"/>
            <a:ext cx="274320" cy="27940"/>
          </a:xfrm>
          <a:prstGeom prst="roundRect">
            <a:avLst/>
          </a:prstGeom>
          <a:solidFill>
            <a:srgbClr val="FB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74320" cy="27940"/>
          </a:xfrm>
          <a:prstGeom prst="roundRect">
            <a:avLst/>
          </a:prstGeom>
          <a:solidFill>
            <a:srgbClr val="FB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612648"/>
            <a:ext cx="274320" cy="27940"/>
          </a:xfrm>
          <a:prstGeom prst="roundRect">
            <a:avLst/>
          </a:prstGeom>
          <a:solidFill>
            <a:srgbClr val="FB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iles-logo-c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75488"/>
            <a:ext cx="1051560" cy="3301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77440" y="2286000"/>
            <a:ext cx="7406640" cy="228600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FBF0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2606040"/>
            <a:ext cx="667512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BF0E5"/>
                </a:solidFill>
                <a:latin typeface="DM Sans"/>
              </a:rPr>
              <a:t>Kapittel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063240"/>
            <a:ext cx="6675120" cy="12801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4000" b="0" i="0">
                <a:solidFill>
                  <a:srgbClr val="FBF0E5"/>
                </a:solidFill>
                <a:latin typeface="Manrope"/>
              </a:rPr>
              <a:t>Tjenesteområdene våre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502920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612648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iles-logo-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75488"/>
            <a:ext cx="1051560" cy="3559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011680"/>
            <a:ext cx="54864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FF303B"/>
                </a:solidFill>
                <a:latin typeface="Manrope"/>
              </a:rPr>
              <a:t>Slik jobber vi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5486400" cy="12801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0" i="0">
                <a:solidFill>
                  <a:srgbClr val="450D21"/>
                </a:solidFill>
                <a:latin typeface="Manrope"/>
              </a:rPr>
              <a:t>Smarte løsninger i </a:t>
            </a:r>
            <a:r>
              <a:rPr sz="3400" b="0" i="0">
                <a:solidFill>
                  <a:srgbClr val="FF303B"/>
                </a:solidFill>
                <a:latin typeface="Manrope"/>
              </a:rPr>
              <a:t>samarbeid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657600"/>
            <a:ext cx="5120640" cy="1828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800" b="0" i="0">
                <a:solidFill>
                  <a:srgbClr val="450D21"/>
                </a:solidFill>
                <a:latin typeface="DM Sans"/>
              </a:rPr>
              <a:t>Vi møter mennesker med faglig autoritet og varme. Vi lytter, forstår problemet, og bygger noe robust og varig sammen med dere.</a:t>
            </a:r>
          </a:p>
        </p:txBody>
      </p:sp>
      <p:pic>
        <p:nvPicPr>
          <p:cNvPr id="9" name="Picture 8" descr="person-laptop-orb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737360"/>
            <a:ext cx="3051853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502920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612648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iles-logo-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75488"/>
            <a:ext cx="1051560" cy="3559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011680"/>
            <a:ext cx="5486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 spc="150">
                <a:solidFill>
                  <a:srgbClr val="FF303B"/>
                </a:solidFill>
                <a:latin typeface="DM Sans"/>
              </a:rPr>
              <a:t>TJENESTEOMRÅDE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5486400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800" b="1" i="0">
                <a:solidFill>
                  <a:srgbClr val="450D21"/>
                </a:solidFill>
                <a:latin typeface="Manrope"/>
              </a:rPr>
              <a:t>Data og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669280"/>
            <a:ext cx="5943600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450D21"/>
                </a:solidFill>
                <a:latin typeface="DM Sans"/>
              </a:rPr>
              <a:t>Maskinlæring · dataplattformer · MLOps · generativ AI · beslutningsstøtte · datakvalitet</a:t>
            </a:r>
          </a:p>
        </p:txBody>
      </p:sp>
      <p:pic>
        <p:nvPicPr>
          <p:cNvPr id="9" name="Picture 8" descr="data-and-ai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828800"/>
            <a:ext cx="310896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502920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612648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iles-logo-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75488"/>
            <a:ext cx="1051560" cy="3559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2194560"/>
            <a:ext cx="54864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FF303B"/>
                </a:solidFill>
                <a:latin typeface="Manrope"/>
              </a:rPr>
              <a:t>Våre tjenesteområder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194560"/>
            <a:ext cx="12191695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FF303B"/>
                </a:solidFill>
                <a:latin typeface="Manrope"/>
              </a:rPr>
              <a:t>Våre tjenesteområder</a:t>
            </a:r>
          </a:p>
        </p:txBody>
      </p:sp>
      <p:pic>
        <p:nvPicPr>
          <p:cNvPr id="8" name="Picture 7" descr="strategic-it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92608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434840"/>
            <a:ext cx="1828800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450D21"/>
                </a:solidFill>
                <a:latin typeface="DM Sans"/>
              </a:rPr>
              <a:t>Strategisk IT</a:t>
            </a:r>
          </a:p>
        </p:txBody>
      </p:sp>
      <p:pic>
        <p:nvPicPr>
          <p:cNvPr id="10" name="Picture 9" descr="cloud-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3643" y="2926080"/>
            <a:ext cx="1371600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865043" y="4434840"/>
            <a:ext cx="1828800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450D21"/>
                </a:solidFill>
                <a:latin typeface="DM Sans"/>
              </a:rPr>
              <a:t>Teknologi, sky og plattform</a:t>
            </a:r>
          </a:p>
        </p:txBody>
      </p:sp>
      <p:pic>
        <p:nvPicPr>
          <p:cNvPr id="12" name="Picture 11" descr="data-and-ai-cir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0047" y="2926080"/>
            <a:ext cx="1371600" cy="1371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81447" y="4434840"/>
            <a:ext cx="1828800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450D21"/>
                </a:solidFill>
                <a:latin typeface="DM Sans"/>
              </a:rPr>
              <a:t>Data og AI</a:t>
            </a:r>
          </a:p>
        </p:txBody>
      </p:sp>
      <p:pic>
        <p:nvPicPr>
          <p:cNvPr id="14" name="Picture 13" descr="ux-and-innovation-circ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6451" y="2926080"/>
            <a:ext cx="1371600" cy="1371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97851" y="4434840"/>
            <a:ext cx="1828800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450D21"/>
                </a:solidFill>
                <a:latin typeface="DM Sans"/>
              </a:rPr>
              <a:t>Brukeropplevelse og innovasjon</a:t>
            </a:r>
          </a:p>
        </p:txBody>
      </p:sp>
      <p:pic>
        <p:nvPicPr>
          <p:cNvPr id="16" name="Picture 15" descr="transformation-and-people-circ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2855" y="2926080"/>
            <a:ext cx="1371600" cy="1371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14255" y="4434840"/>
            <a:ext cx="1828800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450D21"/>
                </a:solidFill>
                <a:latin typeface="DM Sans"/>
              </a:rPr>
              <a:t>Transformasjon og mennesker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FF3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6858000"/>
          </a:xfrm>
          <a:prstGeom prst="rect">
            <a:avLst/>
          </a:prstGeom>
          <a:solidFill>
            <a:srgbClr val="FB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4952847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FBF0E5"/>
                </a:solidFill>
                <a:latin typeface="Manrope"/>
              </a:rPr>
              <a:t>Mye er nytt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88920"/>
            <a:ext cx="4952847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FBF0E5"/>
                </a:solidFill>
                <a:latin typeface="Manrope"/>
              </a:rPr>
              <a:t>En ny verktøykasse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4952847" cy="914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FBF0E5"/>
                </a:solidFill>
                <a:latin typeface="DM Sans"/>
              </a:rPr>
              <a:t>Nye plattformer, ny AI, nye muligheter.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61607" y="2377440"/>
            <a:ext cx="4952847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FF303B"/>
                </a:solidFill>
                <a:latin typeface="Manrope"/>
              </a:rPr>
              <a:t>Mye består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61607" y="2788920"/>
            <a:ext cx="4952847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1" i="0">
                <a:solidFill>
                  <a:srgbClr val="450D21"/>
                </a:solidFill>
                <a:latin typeface="Manrope"/>
              </a:rPr>
              <a:t>Faglig autoritet og varme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61607" y="3749039"/>
            <a:ext cx="4952847" cy="914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450D21"/>
                </a:solidFill>
                <a:latin typeface="DM Sans"/>
              </a:rPr>
              <a:t>Verdiene og menneskene er de samme.</a:t>
            </a:r>
          </a:p>
        </p:txBody>
      </p:sp>
      <p:pic>
        <p:nvPicPr>
          <p:cNvPr id="10" name="Picture 9" descr="miles-logo-c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02920"/>
            <a:ext cx="914400" cy="2871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502920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612648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iles-logo-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75488"/>
            <a:ext cx="1051560" cy="3559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1371600"/>
            <a:ext cx="12191695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FF303B"/>
                </a:solidFill>
                <a:latin typeface="Manrope"/>
              </a:rPr>
              <a:t>Teamet ditt</a:t>
            </a:r>
          </a:p>
        </p:txBody>
      </p:sp>
      <p:sp>
        <p:nvSpPr>
          <p:cNvPr id="7" name="Oval 6"/>
          <p:cNvSpPr/>
          <p:nvPr/>
        </p:nvSpPr>
        <p:spPr>
          <a:xfrm>
            <a:off x="2758287" y="2194560"/>
            <a:ext cx="1554480" cy="1554480"/>
          </a:xfrm>
          <a:prstGeom prst="ellipse">
            <a:avLst/>
          </a:prstGeom>
          <a:solidFill>
            <a:srgbClr val="F3E3D0"/>
          </a:solidFill>
          <a:ln w="19050">
            <a:solidFill>
              <a:srgbClr val="450D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12567" y="388620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FF3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BF0E5"/>
                </a:solidFill>
                <a:latin typeface="DM Sans"/>
              </a:rPr>
              <a:t>Senior konsulent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2527" y="4389120"/>
            <a:ext cx="22860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450D21"/>
                </a:solidFill>
                <a:latin typeface="DM Sans"/>
              </a:rPr>
              <a:t>Navn Navnesen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2527" y="4754880"/>
            <a:ext cx="22860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6A2F44"/>
                </a:solidFill>
                <a:latin typeface="DM Sans"/>
              </a:rPr>
              <a:t>Løsningsarkitekt</a:t>
            </a:r>
          </a:p>
        </p:txBody>
      </p:sp>
      <p:sp>
        <p:nvSpPr>
          <p:cNvPr id="11" name="Oval 10"/>
          <p:cNvSpPr/>
          <p:nvPr/>
        </p:nvSpPr>
        <p:spPr>
          <a:xfrm>
            <a:off x="5318607" y="2194560"/>
            <a:ext cx="1554480" cy="1554480"/>
          </a:xfrm>
          <a:prstGeom prst="ellipse">
            <a:avLst/>
          </a:prstGeom>
          <a:solidFill>
            <a:srgbClr val="F3E3D0"/>
          </a:solidFill>
          <a:ln w="19050">
            <a:solidFill>
              <a:srgbClr val="450D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72887" y="388620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FF3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BF0E5"/>
                </a:solidFill>
                <a:latin typeface="DM Sans"/>
              </a:rPr>
              <a:t>Konsulent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847" y="4389120"/>
            <a:ext cx="22860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450D21"/>
                </a:solidFill>
                <a:latin typeface="DM Sans"/>
              </a:rPr>
              <a:t>Navn Navnesen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847" y="4754880"/>
            <a:ext cx="22860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6A2F44"/>
                </a:solidFill>
                <a:latin typeface="DM Sans"/>
              </a:rPr>
              <a:t>Data scientist</a:t>
            </a:r>
          </a:p>
        </p:txBody>
      </p:sp>
      <p:sp>
        <p:nvSpPr>
          <p:cNvPr id="15" name="Oval 14"/>
          <p:cNvSpPr/>
          <p:nvPr/>
        </p:nvSpPr>
        <p:spPr>
          <a:xfrm>
            <a:off x="7878927" y="2194560"/>
            <a:ext cx="1554480" cy="1554480"/>
          </a:xfrm>
          <a:prstGeom prst="ellipse">
            <a:avLst/>
          </a:prstGeom>
          <a:solidFill>
            <a:srgbClr val="F3E3D0"/>
          </a:solidFill>
          <a:ln w="19050">
            <a:solidFill>
              <a:srgbClr val="450D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33207" y="388620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FF3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BF0E5"/>
                </a:solidFill>
                <a:latin typeface="DM Sans"/>
              </a:rPr>
              <a:t>Senior konsulent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13167" y="4389120"/>
            <a:ext cx="22860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450D21"/>
                </a:solidFill>
                <a:latin typeface="DM Sans"/>
              </a:rPr>
              <a:t>Navn Navnesen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3167" y="4754880"/>
            <a:ext cx="22860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6A2F44"/>
                </a:solidFill>
                <a:latin typeface="DM Sans"/>
              </a:rPr>
              <a:t>UX-designer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5760720"/>
            <a:ext cx="12191695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6A2F44"/>
                </a:solidFill>
                <a:latin typeface="DM Sans"/>
              </a:rPr>
              <a:t>Bytt de runde brønnene mot svart-hvitt-portretter.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50D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502920"/>
            <a:ext cx="274320" cy="27940"/>
          </a:xfrm>
          <a:prstGeom prst="roundRect">
            <a:avLst/>
          </a:prstGeom>
          <a:solidFill>
            <a:srgbClr val="FB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74320" cy="27940"/>
          </a:xfrm>
          <a:prstGeom prst="roundRect">
            <a:avLst/>
          </a:prstGeom>
          <a:solidFill>
            <a:srgbClr val="FB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612648"/>
            <a:ext cx="274320" cy="27940"/>
          </a:xfrm>
          <a:prstGeom prst="roundRect">
            <a:avLst/>
          </a:prstGeom>
          <a:solidFill>
            <a:srgbClr val="FB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iles-logo-c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75488"/>
            <a:ext cx="1051560" cy="3301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77440" y="2468880"/>
            <a:ext cx="7406640" cy="192024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FBF0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77440" y="2697480"/>
            <a:ext cx="740664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BF0E5"/>
                </a:solidFill>
                <a:latin typeface="DM Sans"/>
              </a:rPr>
              <a:t>Kapittel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3154680"/>
            <a:ext cx="7406640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4200" b="0" i="0">
                <a:solidFill>
                  <a:srgbClr val="FBF0E5"/>
                </a:solidFill>
                <a:latin typeface="Manrope"/>
              </a:rPr>
              <a:t>Datagrafikk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502920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612648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iles-logo-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75488"/>
            <a:ext cx="1051560" cy="3559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960120"/>
            <a:ext cx="54864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FF303B"/>
                </a:solidFill>
                <a:latin typeface="Manrope"/>
              </a:rPr>
              <a:t>Nøkkeltall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44168"/>
            <a:ext cx="1005840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450D21"/>
                </a:solidFill>
                <a:latin typeface="Manrope"/>
              </a:rPr>
              <a:t>Siste 8 kvartaler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3657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450D21"/>
                </a:solidFill>
                <a:latin typeface="DM Sans"/>
              </a:rPr>
              <a:t>Kundetilfredshet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937760" y="2103120"/>
          <a:ext cx="3840480" cy="640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9144000" y="2212848"/>
            <a:ext cx="22860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2200" b="1" i="0">
                <a:solidFill>
                  <a:srgbClr val="450D21"/>
                </a:solidFill>
                <a:latin typeface="DM Sans"/>
              </a:rPr>
              <a:t>4,7 /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00399"/>
            <a:ext cx="3657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450D21"/>
                </a:solidFill>
                <a:latin typeface="DM Sans"/>
              </a:rPr>
              <a:t>Ansatte totalt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937760" y="3063239"/>
          <a:ext cx="3840480" cy="6400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144000" y="3172967"/>
            <a:ext cx="22860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2200" b="1" i="0">
                <a:solidFill>
                  <a:srgbClr val="450D21"/>
                </a:solidFill>
                <a:latin typeface="DM Sans"/>
              </a:rPr>
              <a:t>297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60520"/>
            <a:ext cx="3657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450D21"/>
                </a:solidFill>
                <a:latin typeface="DM Sans"/>
              </a:rPr>
              <a:t>Beleggsgrad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4937760" y="4023360"/>
          <a:ext cx="3840480" cy="6400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144000" y="4133088"/>
            <a:ext cx="22860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2200" b="1" i="0">
                <a:solidFill>
                  <a:srgbClr val="450D21"/>
                </a:solidFill>
                <a:latin typeface="DM Sans"/>
              </a:rPr>
              <a:t>94 %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3657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450D21"/>
                </a:solidFill>
                <a:latin typeface="DM Sans"/>
              </a:rPr>
              <a:t>eNPS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937760" y="4983480"/>
          <a:ext cx="3840480" cy="64008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144000" y="5093208"/>
            <a:ext cx="22860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2200" b="1" i="0">
                <a:solidFill>
                  <a:srgbClr val="450D21"/>
                </a:solidFill>
                <a:latin typeface="DM Sans"/>
              </a:rPr>
              <a:t>54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12648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8F5265"/>
                </a:solidFill>
                <a:latin typeface="DM Sans"/>
              </a:rPr>
              <a:t>Sparklines som små native linjediagram. Illustrativ data.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502920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612648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iles-logo-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75488"/>
            <a:ext cx="1051560" cy="3559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960120"/>
            <a:ext cx="54864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FF303B"/>
                </a:solidFill>
                <a:latin typeface="Manrope"/>
              </a:rPr>
              <a:t>Sammenligning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44168"/>
            <a:ext cx="1005840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450D21"/>
                </a:solidFill>
                <a:latin typeface="Manrope"/>
              </a:rPr>
              <a:t>Omsetning per tjenesteområde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77240" y="1828800"/>
          <a:ext cx="10637215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612648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8F5265"/>
                </a:solidFill>
                <a:latin typeface="DM Sans"/>
              </a:rPr>
              <a:t>Native stolpediagram fra null, verdien på stolpen, én rød aksent. Rediger data i PowerPoint. Illustrativ data.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502920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612648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iles-logo-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75488"/>
            <a:ext cx="1051560" cy="3559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960120"/>
            <a:ext cx="54864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FF303B"/>
                </a:solidFill>
                <a:latin typeface="Manrope"/>
              </a:rPr>
              <a:t>Utvikling over tid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44168"/>
            <a:ext cx="1005840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450D21"/>
                </a:solidFill>
                <a:latin typeface="Manrope"/>
              </a:rPr>
              <a:t>Ansatte per tjenesteområde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77240" y="1828800"/>
          <a:ext cx="10637215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612648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8F5265"/>
                </a:solidFill>
                <a:latin typeface="DM Sans"/>
              </a:rPr>
              <a:t>Native linjediagram, accent-serien i rødt, resten trukket tilbake. Illustrativ data.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502920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612648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iles-logo-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75488"/>
            <a:ext cx="1051560" cy="3559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960120"/>
            <a:ext cx="54864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FF303B"/>
                </a:solidFill>
                <a:latin typeface="Manrope"/>
              </a:rPr>
              <a:t>Rangering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44168"/>
            <a:ext cx="1005840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450D21"/>
                </a:solidFill>
                <a:latin typeface="Manrope"/>
              </a:rPr>
              <a:t>Konsulenter per kontor (2024 → 2025)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77240" y="1828800"/>
          <a:ext cx="10637215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612648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8F5265"/>
                </a:solidFill>
                <a:latin typeface="DM Sans"/>
              </a:rPr>
              <a:t>To serier side om side (før/etter), minimal forklaring. Illustrativ data.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502920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612648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iles-logo-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75488"/>
            <a:ext cx="1051560" cy="3559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960120"/>
            <a:ext cx="54864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FF303B"/>
                </a:solidFill>
                <a:latin typeface="Manrope"/>
              </a:rPr>
              <a:t>Før og etter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44168"/>
            <a:ext cx="1005840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450D21"/>
                </a:solidFill>
                <a:latin typeface="Manrope"/>
              </a:rPr>
              <a:t>Andel prosjekter med AI-komponent (%)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2743200" y="1828800"/>
          <a:ext cx="667512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612648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8F5265"/>
                </a:solidFill>
                <a:latin typeface="DM Sans"/>
              </a:rPr>
              <a:t>Skråningsgraf = 2-kategori linjediagram, én serie per område. Illustrativ data.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502920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612648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iles-logo-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75488"/>
            <a:ext cx="1051560" cy="3559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960120"/>
            <a:ext cx="54864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FF303B"/>
                </a:solidFill>
                <a:latin typeface="Manrope"/>
              </a:rPr>
              <a:t>Korrelasjon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44168"/>
            <a:ext cx="1005840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450D21"/>
                </a:solidFill>
                <a:latin typeface="Manrope"/>
              </a:rPr>
              <a:t>Varighet vs. teamstørrelse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77240" y="1828800"/>
          <a:ext cx="10637215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612648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8F5265"/>
                </a:solidFill>
                <a:latin typeface="DM Sans"/>
              </a:rPr>
              <a:t>Native XY-punktdiagram, uthevet referansepunkt i rødt. Illustrativ data.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502920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612648"/>
            <a:ext cx="274320" cy="27940"/>
          </a:xfrm>
          <a:prstGeom prst="roundRect">
            <a:avLst/>
          </a:prstGeom>
          <a:solidFill>
            <a:srgbClr val="450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iles-logo-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75488"/>
            <a:ext cx="1051560" cy="3559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960120"/>
            <a:ext cx="54864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FF303B"/>
                </a:solidFill>
                <a:latin typeface="Manrope"/>
              </a:rPr>
              <a:t>Mange serier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44168"/>
            <a:ext cx="1005840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450D21"/>
                </a:solidFill>
                <a:latin typeface="Manrope"/>
              </a:rPr>
              <a:t>Vekst per kontor 2021–2026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246888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450D21"/>
                </a:solidFill>
                <a:latin typeface="DM Sans"/>
              </a:rPr>
              <a:t>Oslo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77240" y="2395728"/>
          <a:ext cx="2468880" cy="1325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474720" y="2103120"/>
            <a:ext cx="246888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450D21"/>
                </a:solidFill>
                <a:latin typeface="DM Sans"/>
              </a:rPr>
              <a:t>Bergen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3474720" y="2395728"/>
          <a:ext cx="2468880" cy="13258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172200" y="2103120"/>
            <a:ext cx="246888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450D21"/>
                </a:solidFill>
                <a:latin typeface="DM Sans"/>
              </a:rPr>
              <a:t>Trondheim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172200" y="2395728"/>
          <a:ext cx="2468880" cy="13258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869680" y="2103120"/>
            <a:ext cx="246888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450D21"/>
                </a:solidFill>
                <a:latin typeface="DM Sans"/>
              </a:rPr>
              <a:t>Stavanger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8869680" y="2395728"/>
          <a:ext cx="2468880" cy="132588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77240" y="4251960"/>
            <a:ext cx="246888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450D21"/>
                </a:solidFill>
                <a:latin typeface="DM Sans"/>
              </a:rPr>
              <a:t>Litauen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4544568"/>
          <a:ext cx="2468880" cy="132588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474720" y="4251960"/>
            <a:ext cx="246888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450D21"/>
                </a:solidFill>
                <a:latin typeface="DM Sans"/>
              </a:rPr>
              <a:t>Ålesund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3474720" y="4544568"/>
          <a:ext cx="2468880" cy="132588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172200" y="4251960"/>
            <a:ext cx="246888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450D21"/>
                </a:solidFill>
                <a:latin typeface="DM Sans"/>
              </a:rPr>
              <a:t>Haugesund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6172200" y="4544568"/>
          <a:ext cx="2468880" cy="1325880"/>
        </p:xfrm>
        <a:graphic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8869680" y="4251960"/>
            <a:ext cx="246888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450D21"/>
                </a:solidFill>
                <a:latin typeface="DM Sans"/>
              </a:rPr>
              <a:t>Innlandet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8869680" y="4544568"/>
          <a:ext cx="2468880" cy="1325880"/>
        </p:xfrm>
        <a:graphic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777240" y="612648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8F5265"/>
                </a:solidFill>
                <a:latin typeface="DM Sans"/>
              </a:rPr>
              <a:t>Small multiples: åtte native mini-linjediagram på felles skala (0–125). Illustrativ data.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30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les-logo-c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02920"/>
            <a:ext cx="1463040" cy="45939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3566160"/>
            <a:ext cx="9144000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800" b="0" i="0">
                <a:solidFill>
                  <a:srgbClr val="FBF0E5"/>
                </a:solidFill>
                <a:latin typeface="Manrope"/>
              </a:rPr>
              <a:t>Takk for tiden din! :)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493776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B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450D21"/>
                </a:solidFill>
                <a:latin typeface="DM Sans"/>
              </a:rPr>
              <a:t>←  Forside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68880" y="4937760"/>
            <a:ext cx="2569464" cy="384048"/>
          </a:xfrm>
          <a:prstGeom prst="roundRect">
            <a:avLst>
              <a:gd name="adj" fmla="val 50000"/>
            </a:avLst>
          </a:prstGeom>
          <a:solidFill>
            <a:srgbClr val="FB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450D21"/>
                </a:solidFill>
                <a:latin typeface="DM Sans"/>
              </a:rPr>
              <a:t>←  Innholdsoversikten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66944" y="4937760"/>
            <a:ext cx="2971800" cy="384048"/>
          </a:xfrm>
          <a:prstGeom prst="roundRect">
            <a:avLst>
              <a:gd name="adj" fmla="val 50000"/>
            </a:avLst>
          </a:prstGeom>
          <a:solidFill>
            <a:srgbClr val="FB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450D21"/>
                </a:solidFill>
                <a:latin typeface="DM Sans"/>
              </a:rPr>
              <a:t>←  Har du noe på hjertet?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